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4" r:id="rId4"/>
    <p:sldId id="259" r:id="rId5"/>
    <p:sldId id="260" r:id="rId6"/>
    <p:sldId id="263" r:id="rId7"/>
    <p:sldId id="262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F49"/>
    <a:srgbClr val="000046"/>
    <a:srgbClr val="1433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9" autoAdjust="0"/>
    <p:restoredTop sz="94660"/>
  </p:normalViewPr>
  <p:slideViewPr>
    <p:cSldViewPr snapToGrid="0">
      <p:cViewPr varScale="1">
        <p:scale>
          <a:sx n="84" d="100"/>
          <a:sy n="84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97F1-DB9F-4795-84E8-054607865E9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36F4-21B2-4973-B1A7-A94916B78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163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97F1-DB9F-4795-84E8-054607865E9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36F4-21B2-4973-B1A7-A94916B78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596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97F1-DB9F-4795-84E8-054607865E9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36F4-21B2-4973-B1A7-A94916B78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684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97F1-DB9F-4795-84E8-054607865E9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36F4-21B2-4973-B1A7-A94916B78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180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97F1-DB9F-4795-84E8-054607865E9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36F4-21B2-4973-B1A7-A94916B78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459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97F1-DB9F-4795-84E8-054607865E9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36F4-21B2-4973-B1A7-A94916B78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27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97F1-DB9F-4795-84E8-054607865E9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36F4-21B2-4973-B1A7-A94916B78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593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97F1-DB9F-4795-84E8-054607865E9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36F4-21B2-4973-B1A7-A94916B78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03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97F1-DB9F-4795-84E8-054607865E9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36F4-21B2-4973-B1A7-A94916B78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374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97F1-DB9F-4795-84E8-054607865E9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36F4-21B2-4973-B1A7-A94916B78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120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997F1-DB9F-4795-84E8-054607865E9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36F4-21B2-4973-B1A7-A94916B78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705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997F1-DB9F-4795-84E8-054607865E9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36F4-21B2-4973-B1A7-A94916B78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84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Stored Data 2"/>
          <p:cNvSpPr/>
          <p:nvPr/>
        </p:nvSpPr>
        <p:spPr>
          <a:xfrm>
            <a:off x="-958362" y="0"/>
            <a:ext cx="6110655" cy="6858000"/>
          </a:xfrm>
          <a:prstGeom prst="flowChartOnlineStorage">
            <a:avLst/>
          </a:prstGeom>
          <a:solidFill>
            <a:srgbClr val="1433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Connector 4"/>
          <p:cNvSpPr/>
          <p:nvPr/>
        </p:nvSpPr>
        <p:spPr>
          <a:xfrm>
            <a:off x="1317381" y="870437"/>
            <a:ext cx="4756639" cy="479180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497" y="870437"/>
            <a:ext cx="5101004" cy="495446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Rectangle 6"/>
          <p:cNvSpPr/>
          <p:nvPr/>
        </p:nvSpPr>
        <p:spPr>
          <a:xfrm flipH="1">
            <a:off x="7132320" y="1389888"/>
            <a:ext cx="3950208" cy="950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400" b="1" dirty="0" smtClean="0">
                <a:latin typeface="Book Antiqua" panose="02040602050305030304" pitchFamily="18" charset="0"/>
              </a:rPr>
              <a:t>RevOps360</a:t>
            </a:r>
            <a:endParaRPr lang="en-IN" sz="5400" b="1" dirty="0">
              <a:latin typeface="Book Antiqua" panose="0204060205030503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05904" y="2176272"/>
            <a:ext cx="58996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chemeClr val="tx2">
                    <a:lumMod val="50000"/>
                  </a:schemeClr>
                </a:solidFill>
                <a:latin typeface="Bodoni MT" panose="02070603080606020203" pitchFamily="18" charset="0"/>
              </a:rPr>
              <a:t>Salesforce-Inspired Revenue Intelligence Platform</a:t>
            </a:r>
            <a:endParaRPr lang="en-IN" sz="2000" b="1" dirty="0">
              <a:solidFill>
                <a:schemeClr val="tx2">
                  <a:lumMod val="50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12280" y="2496312"/>
            <a:ext cx="56266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Power BI | DAX | Data Modeling | Business Intelligence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599800" y="2824448"/>
            <a:ext cx="5505743" cy="523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Book Antiqua" panose="02040602050305030304" pitchFamily="18" charset="0"/>
              </a:rPr>
              <a:t>Interactive business intelligence solution for revenue, churn, customer engagement, and operational analytics</a:t>
            </a:r>
            <a:endParaRPr lang="en-IN" sz="1400" dirty="0">
              <a:solidFill>
                <a:schemeClr val="tx2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00360" y="3646485"/>
            <a:ext cx="3877056" cy="685800"/>
          </a:xfrm>
          <a:prstGeom prst="rect">
            <a:avLst/>
          </a:prstGeom>
          <a:solidFill>
            <a:srgbClr val="132F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latin typeface="Bodoni MT" panose="02070603080606020203" pitchFamily="18" charset="0"/>
              </a:rPr>
              <a:t>Created by Khushi</a:t>
            </a:r>
          </a:p>
        </p:txBody>
      </p:sp>
    </p:spTree>
    <p:extLst>
      <p:ext uri="{BB962C8B-B14F-4D97-AF65-F5344CB8AC3E}">
        <p14:creationId xmlns:p14="http://schemas.microsoft.com/office/powerpoint/2010/main" val="62239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9469" y="1090273"/>
            <a:ext cx="10964008" cy="5794131"/>
          </a:xfrm>
          <a:prstGeom prst="rect">
            <a:avLst/>
          </a:prstGeom>
          <a:solidFill>
            <a:srgbClr val="132F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004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51131" y="1907931"/>
            <a:ext cx="411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Elephant" panose="02020904090505020303" pitchFamily="18" charset="0"/>
              </a:rPr>
              <a:t>Business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651130" y="2373923"/>
            <a:ext cx="452578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Baskerville Old Face" panose="02020602080505020303" pitchFamily="18" charset="0"/>
              </a:rPr>
              <a:t>Businesses often struggle to monitor revenue performance, customer churn, operational efficiency, and customer engagement within a centralized analytics environment. Data is frequently spread across multiple systems, making it difficult to track KPIs, identify risks, and generate actionable insights. Inspired by Salesforce-style business intelligence platforms, RevOps360 was developed to provide interactive dashboards and executive-level reporting for data-driven </a:t>
            </a:r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askerville Old Face" panose="02020602080505020303" pitchFamily="18" charset="0"/>
              </a:rPr>
              <a:t>decision-making.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89" y="2233579"/>
            <a:ext cx="3473460" cy="24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99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21673" y="2164354"/>
            <a:ext cx="3145536" cy="292986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7506322" y="2101295"/>
            <a:ext cx="3136392" cy="292986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621673" y="864286"/>
            <a:ext cx="78423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N" sz="4000" b="1" dirty="0">
                <a:latin typeface="Bodoni MT" panose="02070603080606020203" pitchFamily="18" charset="0"/>
              </a:rPr>
              <a:t>RevOps360 Solution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0695" y="4110177"/>
            <a:ext cx="53866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  <a:latin typeface="Bodoni MT" panose="02070603080606020203" pitchFamily="18" charset="0"/>
              </a:rPr>
              <a:t>Customer churn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0696" y="2982678"/>
            <a:ext cx="67338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  <a:latin typeface="Bodoni MT" panose="02070603080606020203" pitchFamily="18" charset="0"/>
              </a:rPr>
              <a:t>Revenue </a:t>
            </a:r>
            <a:r>
              <a:rPr lang="en-IN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odoni MT" panose="02070603080606020203" pitchFamily="18" charset="0"/>
              </a:rPr>
              <a:t>performance </a:t>
            </a:r>
          </a:p>
        </p:txBody>
      </p:sp>
      <p:sp>
        <p:nvSpPr>
          <p:cNvPr id="9" name="Rectangle 8"/>
          <p:cNvSpPr/>
          <p:nvPr/>
        </p:nvSpPr>
        <p:spPr>
          <a:xfrm rot="10800000" flipV="1">
            <a:off x="1870695" y="3361761"/>
            <a:ext cx="61714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Operational efficiency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0696" y="3740845"/>
            <a:ext cx="57164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Customer engagement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5323" y="2974861"/>
            <a:ext cx="25383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odoni MT" panose="02070603080606020203" pitchFamily="18" charset="0"/>
              </a:rPr>
              <a:t>KPI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  <a:latin typeface="Bodoni MT" panose="02070603080606020203" pitchFamily="18" charset="0"/>
              </a:rPr>
              <a:t>Monitoring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05324" y="3332830"/>
            <a:ext cx="36320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odoni MT" panose="02070603080606020203" pitchFamily="18" charset="0"/>
              </a:rPr>
              <a:t>Actionable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  <a:latin typeface="Bodoni MT" panose="02070603080606020203" pitchFamily="18" charset="0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36212" y="3740845"/>
            <a:ext cx="35599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  <a:latin typeface="Bodoni MT" panose="02070603080606020203" pitchFamily="18" charset="0"/>
              </a:rPr>
              <a:t>Data-driven Decisions</a:t>
            </a:r>
          </a:p>
        </p:txBody>
      </p:sp>
      <p:sp>
        <p:nvSpPr>
          <p:cNvPr id="14" name="Rectangle 13"/>
          <p:cNvSpPr/>
          <p:nvPr/>
        </p:nvSpPr>
        <p:spPr>
          <a:xfrm rot="10800000" flipH="1" flipV="1">
            <a:off x="7836212" y="4188123"/>
            <a:ext cx="37776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  <a:latin typeface="Bodoni MT" panose="02070603080606020203" pitchFamily="18" charset="0"/>
              </a:rPr>
              <a:t>Interactive Reporting</a:t>
            </a:r>
          </a:p>
        </p:txBody>
      </p:sp>
      <p:sp>
        <p:nvSpPr>
          <p:cNvPr id="15" name="Rectangle 14"/>
          <p:cNvSpPr/>
          <p:nvPr/>
        </p:nvSpPr>
        <p:spPr>
          <a:xfrm rot="10800000" flipV="1">
            <a:off x="8042136" y="2389925"/>
            <a:ext cx="6768094" cy="824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u="sng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SOLUTION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/>
            </a:r>
            <a:b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</a:b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066544" y="2340864"/>
            <a:ext cx="52989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284354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1883" y="208905"/>
            <a:ext cx="43121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rgbClr val="000046"/>
                </a:solidFill>
                <a:latin typeface="Baskerville Old Face" panose="02020602080505020303" pitchFamily="18" charset="0"/>
              </a:rPr>
              <a:t>Dashboard Overview :</a:t>
            </a:r>
            <a:endParaRPr lang="en-IN" sz="2400" b="1" dirty="0">
              <a:solidFill>
                <a:srgbClr val="000046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577480" y="1342092"/>
            <a:ext cx="974540" cy="374904"/>
          </a:xfrm>
          <a:prstGeom prst="rect">
            <a:avLst/>
          </a:prstGeom>
          <a:solidFill>
            <a:srgbClr val="132F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-577480" y="2270721"/>
            <a:ext cx="974540" cy="374904"/>
          </a:xfrm>
          <a:prstGeom prst="rect">
            <a:avLst/>
          </a:prstGeom>
          <a:solidFill>
            <a:srgbClr val="132F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591900" y="3183694"/>
            <a:ext cx="974540" cy="374904"/>
          </a:xfrm>
          <a:prstGeom prst="rect">
            <a:avLst/>
          </a:prstGeom>
          <a:solidFill>
            <a:srgbClr val="132F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-591900" y="4112323"/>
            <a:ext cx="974540" cy="374904"/>
          </a:xfrm>
          <a:prstGeom prst="rect">
            <a:avLst/>
          </a:prstGeom>
          <a:solidFill>
            <a:srgbClr val="132F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77480" y="4892478"/>
            <a:ext cx="974540" cy="374904"/>
          </a:xfrm>
          <a:prstGeom prst="rect">
            <a:avLst/>
          </a:prstGeom>
          <a:solidFill>
            <a:srgbClr val="132F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402336" y="1244730"/>
            <a:ext cx="33959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odoni MT" panose="02070603080606020203" pitchFamily="18" charset="0"/>
              </a:rPr>
              <a:t>Interactive dashboard for revenue, customer retention, and subscription monitoring</a:t>
            </a:r>
            <a:endParaRPr lang="en-IN" sz="1600" dirty="0">
              <a:solidFill>
                <a:schemeClr val="tx2">
                  <a:lumMod val="50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9050" y="2270720"/>
            <a:ext cx="32992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Bodoni MT" panose="02070603080606020203" pitchFamily="18" charset="0"/>
              </a:rPr>
              <a:t>Executive KPI tracking with revenue, churn, and operational metrics</a:t>
            </a:r>
            <a:endParaRPr lang="en-IN" sz="1600" dirty="0">
              <a:latin typeface="Bodoni MT" panose="02070603080606020203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84630" y="3101718"/>
            <a:ext cx="31290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Bodoni MT" panose="02070603080606020203" pitchFamily="18" charset="0"/>
              </a:rPr>
              <a:t>Dynamic chart switching and contextual filtering for focused analysis</a:t>
            </a:r>
            <a:endParaRPr lang="en-IN" sz="1600" dirty="0">
              <a:latin typeface="Bodoni MT" panose="02070603080606020203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4830" y="3999704"/>
            <a:ext cx="31870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Bodoni MT" panose="02070603080606020203" pitchFamily="18" charset="0"/>
              </a:rPr>
              <a:t>Regional revenue and support ticket analysis for business insights</a:t>
            </a:r>
            <a:endParaRPr lang="en-IN" sz="1600" dirty="0">
              <a:latin typeface="Bodoni MT" panose="02070603080606020203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99050" y="4664432"/>
            <a:ext cx="32992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odoni MT" panose="02070603080606020203" pitchFamily="18" charset="0"/>
              </a:rPr>
              <a:t>Salesforce-inspired design with multi-page navigation and interactive reporting</a:t>
            </a:r>
            <a:endParaRPr lang="en-IN" sz="1600" dirty="0">
              <a:solidFill>
                <a:schemeClr val="tx2">
                  <a:lumMod val="50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31883" y="612088"/>
            <a:ext cx="450166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00046"/>
                </a:solidFill>
              </a:rPr>
              <a:t>KPI Monitoring &amp; Business Performance Tracking</a:t>
            </a:r>
            <a:endParaRPr lang="en-IN" sz="1100" b="1" dirty="0">
              <a:solidFill>
                <a:srgbClr val="000046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"/>
          <a:stretch/>
        </p:blipFill>
        <p:spPr>
          <a:xfrm>
            <a:off x="3798277" y="602582"/>
            <a:ext cx="8183528" cy="553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47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82483" y="211015"/>
            <a:ext cx="36597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Engravers MT" panose="02090707080505020304" pitchFamily="18" charset="0"/>
              </a:rPr>
              <a:t>Analytics Insights</a:t>
            </a:r>
            <a:endParaRPr lang="en-US" sz="2400" b="1" dirty="0">
              <a:latin typeface="Engravers MT" panose="020907070805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179193"/>
            <a:ext cx="3465576" cy="4416935"/>
          </a:xfrm>
          <a:prstGeom prst="rect">
            <a:avLst/>
          </a:prstGeom>
          <a:solidFill>
            <a:srgbClr val="132F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82483" y="1700587"/>
            <a:ext cx="29260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Revenue trends revealed key business performance patterns.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9226" y="2419572"/>
            <a:ext cx="33474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Customer churn analysis identified retention opportunities.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9226" y="3085360"/>
            <a:ext cx="30137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Product usage insights highlighted feature adoption trends</a:t>
            </a:r>
            <a:r>
              <a:rPr lang="en-US" sz="1600" dirty="0"/>
              <a:t>.</a:t>
            </a:r>
            <a:endParaRPr lang="en-IN" sz="1600" dirty="0"/>
          </a:p>
        </p:txBody>
      </p:sp>
      <p:sp>
        <p:nvSpPr>
          <p:cNvPr id="8" name="Rectangle 7"/>
          <p:cNvSpPr/>
          <p:nvPr/>
        </p:nvSpPr>
        <p:spPr>
          <a:xfrm>
            <a:off x="159226" y="3886201"/>
            <a:ext cx="33886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Support ticket analysis uncovered operational workload patterns.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9226" y="4551990"/>
            <a:ext cx="29842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Interactive analytics enabled data-driven decision-making.</a:t>
            </a:r>
            <a:endParaRPr lang="en-IN" sz="1600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238" y="576703"/>
            <a:ext cx="7861684" cy="542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22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-146304" y="1477247"/>
            <a:ext cx="3694176" cy="621840"/>
          </a:xfrm>
          <a:prstGeom prst="roundRect">
            <a:avLst/>
          </a:prstGeom>
          <a:solidFill>
            <a:srgbClr val="132F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188721" y="937549"/>
            <a:ext cx="3730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-173505" y="4049006"/>
            <a:ext cx="3639312" cy="655398"/>
          </a:xfrm>
          <a:prstGeom prst="roundRect">
            <a:avLst/>
          </a:prstGeom>
          <a:solidFill>
            <a:srgbClr val="132F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-173505" y="2331008"/>
            <a:ext cx="3639312" cy="637486"/>
          </a:xfrm>
          <a:prstGeom prst="roundRect">
            <a:avLst/>
          </a:prstGeom>
          <a:solidFill>
            <a:srgbClr val="132F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ounded Rectangle 7"/>
          <p:cNvSpPr/>
          <p:nvPr/>
        </p:nvSpPr>
        <p:spPr>
          <a:xfrm>
            <a:off x="-173505" y="3153174"/>
            <a:ext cx="3618769" cy="617885"/>
          </a:xfrm>
          <a:prstGeom prst="roundRect">
            <a:avLst/>
          </a:prstGeom>
          <a:solidFill>
            <a:srgbClr val="132F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-17045" y="2457038"/>
            <a:ext cx="33911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High-risk customer segments require proactive retention efforts.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" y="3230688"/>
            <a:ext cx="337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Highly used features contributed to stronger customer engagement and platform adoption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" y="4183533"/>
            <a:ext cx="3291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Support analytics revealed operational workload and improvement opportunities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-163464" y="4946699"/>
            <a:ext cx="3618769" cy="645061"/>
          </a:xfrm>
          <a:prstGeom prst="roundRect">
            <a:avLst/>
          </a:prstGeom>
          <a:solidFill>
            <a:srgbClr val="132F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-17045" y="5056632"/>
            <a:ext cx="33911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Key focus areas include customer retention, support efficiency, and feature adoption.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90146"/>
            <a:ext cx="1061687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 smtClean="0">
                <a:latin typeface="Baskerville Old Face" panose="02020602080505020303" pitchFamily="18" charset="0"/>
              </a:rPr>
              <a:t>Key Insights </a:t>
            </a:r>
            <a:r>
              <a:rPr lang="en-IN" sz="3600" dirty="0">
                <a:latin typeface="Baskerville Old Face" panose="02020602080505020303" pitchFamily="18" charset="0"/>
              </a:rPr>
              <a:t>&amp; </a:t>
            </a:r>
            <a:r>
              <a:rPr lang="en-IN" sz="3600" dirty="0" smtClean="0">
                <a:latin typeface="Baskerville Old Face" panose="02020602080505020303" pitchFamily="18" charset="0"/>
              </a:rPr>
              <a:t>Recommendations</a:t>
            </a:r>
            <a:r>
              <a:rPr lang="en-IN" sz="4000" dirty="0" smtClean="0">
                <a:latin typeface="Baskerville Old Face" panose="02020602080505020303" pitchFamily="18" charset="0"/>
              </a:rPr>
              <a:t>:</a:t>
            </a:r>
            <a:endParaRPr lang="en-IN" sz="4000" dirty="0">
              <a:latin typeface="Baskerville Old Face" panose="020206020805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542774"/>
            <a:ext cx="3547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Strong revenue growth indicated positive business performance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21208" y="1514312"/>
            <a:ext cx="4757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rgbClr val="000046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 smtClean="0">
                <a:solidFill>
                  <a:srgbClr val="000046"/>
                </a:solidFill>
                <a:latin typeface="Bodoni MT" panose="02070603080606020203" pitchFamily="18" charset="0"/>
              </a:rPr>
              <a:t> </a:t>
            </a:r>
            <a:endParaRPr lang="en-US" sz="3200" dirty="0">
              <a:solidFill>
                <a:srgbClr val="000046"/>
              </a:solidFill>
              <a:latin typeface="Bodoni MT" panose="02070603080606020203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"/>
          <a:stretch/>
        </p:blipFill>
        <p:spPr>
          <a:xfrm>
            <a:off x="3859823" y="1015731"/>
            <a:ext cx="8073329" cy="551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8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0034" y="4548851"/>
            <a:ext cx="61578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solidFill>
                  <a:srgbClr val="000046"/>
                </a:solidFill>
                <a:latin typeface="Bodoni MT" panose="02070603080606020203" pitchFamily="18" charset="0"/>
              </a:rPr>
              <a:t> </a:t>
            </a:r>
          </a:p>
          <a:p>
            <a:endParaRPr lang="en-US" dirty="0" smtClean="0">
              <a:solidFill>
                <a:srgbClr val="000046"/>
              </a:solidFill>
            </a:endParaRPr>
          </a:p>
          <a:p>
            <a:endParaRPr lang="en-US" dirty="0">
              <a:solidFill>
                <a:srgbClr val="000046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24712" y="721936"/>
            <a:ext cx="5789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solidFill>
                  <a:srgbClr val="000046"/>
                </a:solidFill>
                <a:latin typeface="Arial Rounded MT Bold" panose="020F0704030504030204" pitchFamily="34" charset="0"/>
              </a:rPr>
              <a:t>Key Learnings &amp; Conclusion</a:t>
            </a:r>
            <a:endParaRPr lang="en-IN" sz="3200" b="1" dirty="0">
              <a:solidFill>
                <a:srgbClr val="000046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Flowchart: Delay 3"/>
          <p:cNvSpPr/>
          <p:nvPr/>
        </p:nvSpPr>
        <p:spPr>
          <a:xfrm rot="7366936">
            <a:off x="8207157" y="-1207461"/>
            <a:ext cx="4905638" cy="5052556"/>
          </a:xfrm>
          <a:prstGeom prst="flowChartDelay">
            <a:avLst/>
          </a:prstGeom>
          <a:solidFill>
            <a:srgbClr val="132F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909" y="-657211"/>
            <a:ext cx="4228135" cy="395205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Flowchart: Delay 11"/>
          <p:cNvSpPr/>
          <p:nvPr/>
        </p:nvSpPr>
        <p:spPr>
          <a:xfrm rot="16200000">
            <a:off x="8663652" y="5879940"/>
            <a:ext cx="1226916" cy="1956120"/>
          </a:xfrm>
          <a:prstGeom prst="flowChartDelay">
            <a:avLst/>
          </a:prstGeom>
          <a:solidFill>
            <a:srgbClr val="132F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436489" y="1515275"/>
            <a:ext cx="65215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46"/>
                </a:solidFill>
                <a:latin typeface="Bodoni MT" panose="02070603080606020203" pitchFamily="18" charset="0"/>
              </a:rPr>
              <a:t>Developed a Salesforce-inspired business intelligence platform using    Power BI, DAX, and interactive dashboard design principles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678" y="1493699"/>
            <a:ext cx="90281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46"/>
                </a:solidFill>
                <a:latin typeface="Arial Black" panose="020B0A04020102020204" pitchFamily="34" charset="0"/>
              </a:rPr>
              <a:t>0 1</a:t>
            </a:r>
            <a:r>
              <a:rPr lang="en-US" sz="3200" dirty="0">
                <a:solidFill>
                  <a:srgbClr val="000046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>
                <a:solidFill>
                  <a:srgbClr val="000046"/>
                </a:solidFill>
                <a:latin typeface="Bodoni MT" panose="02070603080606020203" pitchFamily="18" charset="0"/>
              </a:rPr>
              <a:t>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678" y="2224593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0046"/>
                </a:solidFill>
                <a:latin typeface="Arial Black" panose="020B0A04020102020204" pitchFamily="34" charset="0"/>
              </a:rPr>
              <a:t>0 2 </a:t>
            </a:r>
            <a:endParaRPr lang="en-IN" sz="3200" dirty="0"/>
          </a:p>
        </p:txBody>
      </p:sp>
      <p:sp>
        <p:nvSpPr>
          <p:cNvPr id="16" name="Rectangle 15"/>
          <p:cNvSpPr/>
          <p:nvPr/>
        </p:nvSpPr>
        <p:spPr>
          <a:xfrm>
            <a:off x="1436489" y="2296007"/>
            <a:ext cx="5933742" cy="607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Bodoni MT" panose="02070603080606020203" pitchFamily="18" charset="0"/>
              </a:rPr>
              <a:t>Gained hands-on experience in KPI tracking, revenue analytics, customer churn analysis, and operational reporting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678" y="2880783"/>
            <a:ext cx="10703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000046"/>
                </a:solidFill>
                <a:latin typeface="Arial Black" panose="020B0A04020102020204" pitchFamily="34" charset="0"/>
              </a:rPr>
              <a:t>0 3</a:t>
            </a:r>
            <a:endParaRPr lang="en-IN" sz="3200" dirty="0"/>
          </a:p>
        </p:txBody>
      </p:sp>
      <p:sp>
        <p:nvSpPr>
          <p:cNvPr id="18" name="Rectangle 17"/>
          <p:cNvSpPr/>
          <p:nvPr/>
        </p:nvSpPr>
        <p:spPr>
          <a:xfrm>
            <a:off x="1436489" y="3010982"/>
            <a:ext cx="686256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Bodoni MT" panose="02070603080606020203" pitchFamily="18" charset="0"/>
              </a:rPr>
              <a:t>Implemented advanced Power BI features including bookmarks, dynamic visual switching, contextual filtering, and multi-page navigation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074" y="3574004"/>
            <a:ext cx="11297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46"/>
                </a:solidFill>
                <a:latin typeface="Arial Black" panose="020B0A04020102020204" pitchFamily="34" charset="0"/>
              </a:rPr>
              <a:t>0 4</a:t>
            </a:r>
            <a:endParaRPr lang="en-IN" sz="3200" dirty="0"/>
          </a:p>
        </p:txBody>
      </p:sp>
      <p:sp>
        <p:nvSpPr>
          <p:cNvPr id="20" name="Rectangle 19"/>
          <p:cNvSpPr/>
          <p:nvPr/>
        </p:nvSpPr>
        <p:spPr>
          <a:xfrm>
            <a:off x="1401440" y="3720300"/>
            <a:ext cx="60576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Bodoni MT" panose="02070603080606020203" pitchFamily="18" charset="0"/>
              </a:rPr>
              <a:t>Improved understanding of analytical storytelling, dashboard UX design, and business-focused data visualization </a:t>
            </a:r>
            <a:endParaRPr lang="en-IN" sz="1600" dirty="0">
              <a:solidFill>
                <a:schemeClr val="tx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4074" y="4335255"/>
            <a:ext cx="13144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46"/>
                </a:solidFill>
                <a:latin typeface="Arial Black" panose="020B0A04020102020204" pitchFamily="34" charset="0"/>
              </a:rPr>
              <a:t>0 5 </a:t>
            </a:r>
            <a:endParaRPr lang="en-IN" sz="3200" dirty="0"/>
          </a:p>
        </p:txBody>
      </p:sp>
      <p:sp>
        <p:nvSpPr>
          <p:cNvPr id="22" name="Rectangle 21"/>
          <p:cNvSpPr/>
          <p:nvPr/>
        </p:nvSpPr>
        <p:spPr>
          <a:xfrm>
            <a:off x="1380003" y="4429618"/>
            <a:ext cx="61174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46"/>
                </a:solidFill>
                <a:latin typeface="Bodoni MT" panose="02070603080606020203" pitchFamily="18" charset="0"/>
              </a:rPr>
              <a:t>Learned how data-driven insights can support strategic business decisions and operational performance monitoring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4075" y="5138937"/>
            <a:ext cx="12057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46"/>
                </a:solidFill>
                <a:latin typeface="Arial Black" panose="020B0A04020102020204" pitchFamily="34" charset="0"/>
              </a:rPr>
              <a:t>0 6</a:t>
            </a:r>
            <a:r>
              <a:rPr lang="en-US" sz="3200" dirty="0"/>
              <a:t> </a:t>
            </a:r>
            <a:endParaRPr lang="en-IN" sz="3200" dirty="0"/>
          </a:p>
        </p:txBody>
      </p:sp>
      <p:sp>
        <p:nvSpPr>
          <p:cNvPr id="24" name="Rectangle 23"/>
          <p:cNvSpPr/>
          <p:nvPr/>
        </p:nvSpPr>
        <p:spPr>
          <a:xfrm>
            <a:off x="1380003" y="5233301"/>
            <a:ext cx="6919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Bodoni MT" panose="02070603080606020203" pitchFamily="18" charset="0"/>
              </a:rPr>
              <a:t>RevOps360 demonstrates the integration of business intelligence, interactive analytics, and executive reporting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  <a:latin typeface="Bodoni MT" panose="02070603080606020203" pitchFamily="18" charset="0"/>
              </a:rPr>
              <a:t>.</a:t>
            </a:r>
            <a:endParaRPr lang="en-IN" sz="1600" b="1" dirty="0">
              <a:solidFill>
                <a:schemeClr val="tx2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717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05225" y="2329962"/>
            <a:ext cx="6172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6600" dirty="0">
                <a:solidFill>
                  <a:schemeClr val="accent1">
                    <a:lumMod val="20000"/>
                    <a:lumOff val="80000"/>
                  </a:schemeClr>
                </a:solidFill>
                <a:latin typeface="Elephant" panose="02020904090505020303" pitchFamily="18" charset="0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3513991" y="3182816"/>
            <a:ext cx="5331071" cy="954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entaur" panose="02030504050205020304" pitchFamily="18" charset="0"/>
              </a:rPr>
              <a:t>This project demonstrates the application of Power BI, DAX, data modeling, KPI monitoring, and business intelligence principles to solve real-world business challenges through interactive analytics and data-driven </a:t>
            </a:r>
            <a:r>
              <a:rPr lang="en-US" sz="14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entaur" panose="02030504050205020304" pitchFamily="18" charset="0"/>
              </a:rPr>
              <a:t>insights. I </a:t>
            </a:r>
            <a:r>
              <a:rPr lang="en-US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entaur" panose="02030504050205020304" pitchFamily="18" charset="0"/>
              </a:rPr>
              <a:t>appreciate your time and feedback.</a:t>
            </a:r>
          </a:p>
        </p:txBody>
      </p:sp>
    </p:spTree>
    <p:extLst>
      <p:ext uri="{BB962C8B-B14F-4D97-AF65-F5344CB8AC3E}">
        <p14:creationId xmlns:p14="http://schemas.microsoft.com/office/powerpoint/2010/main" val="246622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429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Arial</vt:lpstr>
      <vt:lpstr>Arial Black</vt:lpstr>
      <vt:lpstr>Arial Rounded MT Bold</vt:lpstr>
      <vt:lpstr>Baskerville Old Face</vt:lpstr>
      <vt:lpstr>Bodoni MT</vt:lpstr>
      <vt:lpstr>Book Antiqua</vt:lpstr>
      <vt:lpstr>Calibri</vt:lpstr>
      <vt:lpstr>Calibri Light</vt:lpstr>
      <vt:lpstr>Centaur</vt:lpstr>
      <vt:lpstr>Elephant</vt:lpstr>
      <vt:lpstr>Engravers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45</cp:revision>
  <dcterms:created xsi:type="dcterms:W3CDTF">2026-05-27T11:13:37Z</dcterms:created>
  <dcterms:modified xsi:type="dcterms:W3CDTF">2026-05-30T09:26:53Z</dcterms:modified>
</cp:coreProperties>
</file>